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0a7643c7fd4d9c" /><Relationship Type="http://schemas.openxmlformats.org/officeDocument/2006/relationships/extended-properties" Target="/docProps/app.xml" Id="R9714045994df4717" /><Relationship Type="http://schemas.openxmlformats.org/officeDocument/2006/relationships/officeDocument" Target="/ppt/presentation.xml" Id="R98d937cb531d4e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64fba309164fbb"/>
  </p:sldMasterIdLst>
  <p:notesMasterIdLst>
    <p:notesMasterId xmlns:r="http://schemas.openxmlformats.org/officeDocument/2006/relationships" r:id="R2a92cf47fe324c70"/>
  </p:notesMasterIdLst>
  <p:sldIdLst>
    <p:sldId xmlns:r="http://schemas.openxmlformats.org/officeDocument/2006/relationships" id="256" r:id="R08285becbd3b4798"/>
    <p:sldId xmlns:r="http://schemas.openxmlformats.org/officeDocument/2006/relationships" id="257" r:id="R50ec95ea2ef04e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a88a22bc5744bb" /><Relationship Type="http://schemas.openxmlformats.org/officeDocument/2006/relationships/slideMaster" Target="/ppt/slideMasters/slideMaster1.xml" Id="Rd564fba309164fbb" /><Relationship Type="http://schemas.openxmlformats.org/officeDocument/2006/relationships/notesMaster" Target="/ppt/notesMasters/notesMaster1.xml" Id="R2a92cf47fe324c70" /><Relationship Type="http://schemas.openxmlformats.org/officeDocument/2006/relationships/presProps" Target="/ppt/presProps.xml" Id="R61e491b2e8ae4a30" /><Relationship Type="http://schemas.openxmlformats.org/officeDocument/2006/relationships/tableStyles" Target="/ppt/tableStyles.xml" Id="R65bb30c663a9417d" /><Relationship Type="http://schemas.openxmlformats.org/officeDocument/2006/relationships/slide" Target="/ppt/slides/slide1.xml" Id="R08285becbd3b4798" /><Relationship Type="http://schemas.openxmlformats.org/officeDocument/2006/relationships/slide" Target="/ppt/slides/slide2.xml" Id="R50ec95ea2ef04e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08612cbcc844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37033fd9b544b8" /><Relationship Type="http://schemas.openxmlformats.org/officeDocument/2006/relationships/notesMaster" Target="/ppt/notesMasters/notesMaster1.xml" Id="R1b6abdf1f1f240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1c7dba5bdd4455" /><Relationship Type="http://schemas.openxmlformats.org/officeDocument/2006/relationships/notesMaster" Target="/ppt/notesMasters/notesMaster1.xml" Id="R61726d3688c940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https://loe.org/shows/segments.html?programID=13-P13-00008&amp;segmentID=1 (Yellowstone sign photo, used for classroom design analysis); design_images/review.png (original Recall P1 sketch). These references inform hierarchy, not a claim that the app uses the sign font. Applied choices: frontend/src/style.css system font stack and 16px inputs; ReviewView.vue labels and action buttons.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https://www.vam.ac.uk/articles/william-morris-and-wallpaper-design and image https://vanda-production-assets.s3.amazonaws.com/2017/11/27/15/33/51/b547ca34-492e-481f-a6eb-77a03a021de1/22.compton.2008BT7237_2500.jpg (V&amp;A wallpaper reference, classroom design analysis); design_images/inbox.png (original Recall P1 sketch). Applied palette comes from frontend/src/style.css, including a darker secondary text color and brown keyboard focus outline. The references are photographs, a printed decorative work, and interface sketches; annotations explain the decisions adopted in Recall.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798e460a7249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630ddc97a24e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f1bfbfee040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27979977148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6cf5d185214e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b9d95466c747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C984C5-3693-4BC5-A28C-C6A1A7CEB0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E85315-FBFE-4D2F-B67E-FA9DC40667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A061503-BCE8-4BE5-9B96-4933CC85F9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FABD1C-D832-4571-B1A2-937DBEC3E8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B02906-D66C-4A81-AC7B-6D8E9AC0AC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9EB543-08BD-48C8-BB51-E847833281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09304A-552C-4A61-8B53-8AD6B3868A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B685E52-A66A-4617-B161-BF3AED5FC1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150EB6-BEFC-4EB3-805C-F958B17C86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92ABB3-DF20-420F-A98F-6618E7CDEE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ddedd1f20c484a" /><Relationship Type="http://schemas.openxmlformats.org/officeDocument/2006/relationships/slideLayout" Target="/ppt/slideLayouts/slideLayout1.xml" Id="R0de8a4fc8192429b" /><Relationship Type="http://schemas.openxmlformats.org/officeDocument/2006/relationships/slideLayout" Target="/ppt/slideLayouts/slideLayout2.xml" Id="R6fb97cd635c5494f" /><Relationship Type="http://schemas.openxmlformats.org/officeDocument/2006/relationships/slideLayout" Target="/ppt/slideLayouts/slideLayout3.xml" Id="Rcd37ea0e86184b99" /><Relationship Type="http://schemas.openxmlformats.org/officeDocument/2006/relationships/slideLayout" Target="/ppt/slideLayouts/slideLayout4.xml" Id="R9ff4c6f7ba11429c" /><Relationship Type="http://schemas.openxmlformats.org/officeDocument/2006/relationships/slideLayout" Target="/ppt/slideLayouts/slideLayout5.xml" Id="R615905e66e2a4108" /><Relationship Type="http://schemas.openxmlformats.org/officeDocument/2006/relationships/slideLayout" Target="/ppt/slideLayouts/slideLayout6.xml" Id="R12bbcf64d24a45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e8a4fc8192429b"/>
    <p:sldLayoutId xmlns:r="http://schemas.openxmlformats.org/officeDocument/2006/relationships" id="2147483650" r:id="R6fb97cd635c5494f"/>
    <p:sldLayoutId xmlns:r="http://schemas.openxmlformats.org/officeDocument/2006/relationships" id="2147483651" r:id="Rcd37ea0e86184b99"/>
    <p:sldLayoutId xmlns:r="http://schemas.openxmlformats.org/officeDocument/2006/relationships" id="2147483652" r:id="R9ff4c6f7ba11429c"/>
    <p:sldLayoutId xmlns:r="http://schemas.openxmlformats.org/officeDocument/2006/relationships" id="2147483653" r:id="R615905e66e2a4108"/>
    <p:sldLayoutId xmlns:r="http://schemas.openxmlformats.org/officeDocument/2006/relationships" id="2147483654" r:id="R12bbcf64d24a45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edc1ca4a0a40ca" /><Relationship Type="http://schemas.openxmlformats.org/officeDocument/2006/relationships/image" Target="/ppt/media/image.jpeg" Id="R75adc70df3bf4cac" /><Relationship Type="http://schemas.openxmlformats.org/officeDocument/2006/relationships/image" Target="/ppt/media/image.png" Id="Rd237f0757b044932" /><Relationship Type="http://schemas.openxmlformats.org/officeDocument/2006/relationships/notesSlide" Target="/ppt/notesSlides/notesSlide1.xml" Id="Rc48bc382b7ce40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c31edc7a6441f0" /><Relationship Type="http://schemas.openxmlformats.org/officeDocument/2006/relationships/image" Target="/ppt/media/image2.jpeg" Id="Rb6d103d2e87143f3" /><Relationship Type="http://schemas.openxmlformats.org/officeDocument/2006/relationships/image" Target="/ppt/media/image2.png" Id="R52839f5440a348cc" /><Relationship Type="http://schemas.openxmlformats.org/officeDocument/2006/relationships/notesSlide" Target="/ppt/notesSlides/notesSlide2.xml" Id="R7d22dfd8261148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37BAA-EC52-4BA9-9695-2A4D0989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F3D36"/>
                </a:solidFill>
              </a:defRPr>
            </a:defPPr>
            <a:lvl1pPr>
              <a:defRPr sz="3300" b="1">
                <a:solidFill>
                  <a:srgbClr val="1F3D36"/>
                </a:solidFill>
              </a:defRPr>
            </a:lvl1pPr>
            <a:lvl2pPr>
              <a:defRPr sz="3300" b="1">
                <a:solidFill>
                  <a:srgbClr val="1F3D36"/>
                </a:solidFill>
              </a:defRPr>
            </a:lvl2pPr>
            <a:lvl3pPr>
              <a:defRPr sz="3300" b="1">
                <a:solidFill>
                  <a:srgbClr val="1F3D36"/>
                </a:solidFill>
              </a:defRPr>
            </a:lvl3pPr>
            <a:lvl4pPr>
              <a:defRPr sz="3300" b="1">
                <a:solidFill>
                  <a:srgbClr val="1F3D36"/>
                </a:solidFill>
              </a:defRPr>
            </a:lvl4pPr>
            <a:lvl5pPr>
              <a:defRPr sz="3300" b="1">
                <a:solidFill>
                  <a:srgbClr val="1F3D36"/>
                </a:solidFill>
              </a:defRPr>
            </a:lvl5pPr>
            <a:lvl6pPr>
              <a:defRPr sz="3300" b="1">
                <a:solidFill>
                  <a:srgbClr val="1F3D36"/>
                </a:solidFill>
              </a:defRPr>
            </a:lvl6pPr>
            <a:lvl7pPr>
              <a:defRPr sz="3300" b="1">
                <a:solidFill>
                  <a:srgbClr val="1F3D36"/>
                </a:solidFill>
              </a:defRPr>
            </a:lvl7pPr>
            <a:lvl8pPr>
              <a:defRPr sz="3300" b="1">
                <a:solidFill>
                  <a:srgbClr val="1F3D36"/>
                </a:solidFill>
              </a:defRPr>
            </a:lvl8pPr>
            <a:lvl9pPr>
              <a:defRPr sz="3300" b="1">
                <a:solidFill>
                  <a:srgbClr val="1F3D36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F3D36"/>
                </a:solidFill>
              </a:defRPr>
            </a:pPr>
            <a:r>
              <a:rPr sz="3300" b="1">
                <a:solidFill>
                  <a:srgbClr val="1F3D36"/>
                </a:solidFill>
              </a:rPr>
              <a:t>Typography: clear actions at a glance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89770-D6DE-44D3-B845-2686A5BC05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dc70df3bf4cac"/>
          <a:srcRect xmlns:a="http://schemas.openxmlformats.org/drawingml/2006/main" l="0" t="11514" r="0" b="115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162050"/>
            <a:ext cx="4857750" cy="2476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5C9BB-FCD0-40F8-8F8E-C3CBA90BF1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7f0757b044932"/>
          <a:stretch xmlns:a="http://schemas.openxmlformats.org/drawingml/2006/main"/>
        </p:blipFill>
        <p:spPr>
          <a:xfrm xmlns:a="http://schemas.openxmlformats.org/drawingml/2006/main">
            <a:off x="5883894" y="1162050"/>
            <a:ext cx="1948212" cy="4191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A0925-FF68-4725-A6C8-EEAB25BC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F3D36"/>
                </a:solidFill>
              </a:defRPr>
            </a:defPPr>
            <a:lvl1pPr>
              <a:defRPr sz="2025" b="1">
                <a:solidFill>
                  <a:srgbClr val="1F3D36"/>
                </a:solidFill>
              </a:defRPr>
            </a:lvl1pPr>
            <a:lvl2pPr>
              <a:defRPr sz="2025" b="1">
                <a:solidFill>
                  <a:srgbClr val="1F3D36"/>
                </a:solidFill>
              </a:defRPr>
            </a:lvl2pPr>
            <a:lvl3pPr>
              <a:defRPr sz="2025" b="1">
                <a:solidFill>
                  <a:srgbClr val="1F3D36"/>
                </a:solidFill>
              </a:defRPr>
            </a:lvl3pPr>
            <a:lvl4pPr>
              <a:defRPr sz="2025" b="1">
                <a:solidFill>
                  <a:srgbClr val="1F3D36"/>
                </a:solidFill>
              </a:defRPr>
            </a:lvl4pPr>
            <a:lvl5pPr>
              <a:defRPr sz="2025" b="1">
                <a:solidFill>
                  <a:srgbClr val="1F3D36"/>
                </a:solidFill>
              </a:defRPr>
            </a:lvl5pPr>
            <a:lvl6pPr>
              <a:defRPr sz="2025" b="1">
                <a:solidFill>
                  <a:srgbClr val="1F3D36"/>
                </a:solidFill>
              </a:defRPr>
            </a:lvl6pPr>
            <a:lvl7pPr>
              <a:defRPr sz="2025" b="1">
                <a:solidFill>
                  <a:srgbClr val="1F3D36"/>
                </a:solidFill>
              </a:defRPr>
            </a:lvl7pPr>
            <a:lvl8pPr>
              <a:defRPr sz="2025" b="1">
                <a:solidFill>
                  <a:srgbClr val="1F3D36"/>
                </a:solidFill>
              </a:defRPr>
            </a:lvl8pPr>
            <a:lvl9pPr>
              <a:defRPr sz="2025" b="1">
                <a:solidFill>
                  <a:srgbClr val="1F3D3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F3D36"/>
                </a:solidFill>
              </a:defRPr>
            </a:pPr>
            <a:r>
              <a:rPr sz="2025" b="1">
                <a:solidFill>
                  <a:srgbClr val="1F3D36"/>
                </a:solidFill>
              </a:rPr>
              <a:t>Photographed signage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3B2E8-AB74-4EAC-B443-48017EE5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4667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C1C1E"/>
                </a:solidFill>
              </a:defRPr>
            </a:defPPr>
            <a:lvl1pPr>
              <a:defRPr sz="1875" b="0">
                <a:solidFill>
                  <a:srgbClr val="1C1C1E"/>
                </a:solidFill>
              </a:defRPr>
            </a:lvl1pPr>
            <a:lvl2pPr>
              <a:defRPr sz="1875" b="0">
                <a:solidFill>
                  <a:srgbClr val="1C1C1E"/>
                </a:solidFill>
              </a:defRPr>
            </a:lvl2pPr>
            <a:lvl3pPr>
              <a:defRPr sz="1875" b="0">
                <a:solidFill>
                  <a:srgbClr val="1C1C1E"/>
                </a:solidFill>
              </a:defRPr>
            </a:lvl3pPr>
            <a:lvl4pPr>
              <a:defRPr sz="1875" b="0">
                <a:solidFill>
                  <a:srgbClr val="1C1C1E"/>
                </a:solidFill>
              </a:defRPr>
            </a:lvl4pPr>
            <a:lvl5pPr>
              <a:defRPr sz="1875" b="0">
                <a:solidFill>
                  <a:srgbClr val="1C1C1E"/>
                </a:solidFill>
              </a:defRPr>
            </a:lvl5pPr>
            <a:lvl6pPr>
              <a:defRPr sz="1875" b="0">
                <a:solidFill>
                  <a:srgbClr val="1C1C1E"/>
                </a:solidFill>
              </a:defRPr>
            </a:lvl6pPr>
            <a:lvl7pPr>
              <a:defRPr sz="1875" b="0">
                <a:solidFill>
                  <a:srgbClr val="1C1C1E"/>
                </a:solidFill>
              </a:defRPr>
            </a:lvl7pPr>
            <a:lvl8pPr>
              <a:defRPr sz="1875" b="0">
                <a:solidFill>
                  <a:srgbClr val="1C1C1E"/>
                </a:solidFill>
              </a:defRPr>
            </a:lvl8pPr>
            <a:lvl9pPr>
              <a:defRPr sz="1875" b="0">
                <a:solidFill>
                  <a:srgbClr val="1C1C1E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C1C1E"/>
                </a:solidFill>
              </a:defRPr>
            </a:pPr>
            <a:r>
              <a:rPr sz="1875" b="0">
                <a:solidFill>
                  <a:srgbClr val="1C1C1E"/>
                </a:solidFill>
              </a:rPr>
              <a:t>A short, prominent name makes the destination easy to find. Borrow the hierarchy, not the all-caps body 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541AB-BE1F-42F8-8121-9B8B3FD0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1620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F3D36"/>
                </a:solidFill>
              </a:defRPr>
            </a:defPPr>
            <a:lvl1pPr>
              <a:defRPr sz="2025" b="1">
                <a:solidFill>
                  <a:srgbClr val="1F3D36"/>
                </a:solidFill>
              </a:defRPr>
            </a:lvl1pPr>
            <a:lvl2pPr>
              <a:defRPr sz="2025" b="1">
                <a:solidFill>
                  <a:srgbClr val="1F3D36"/>
                </a:solidFill>
              </a:defRPr>
            </a:lvl2pPr>
            <a:lvl3pPr>
              <a:defRPr sz="2025" b="1">
                <a:solidFill>
                  <a:srgbClr val="1F3D36"/>
                </a:solidFill>
              </a:defRPr>
            </a:lvl3pPr>
            <a:lvl4pPr>
              <a:defRPr sz="2025" b="1">
                <a:solidFill>
                  <a:srgbClr val="1F3D36"/>
                </a:solidFill>
              </a:defRPr>
            </a:lvl4pPr>
            <a:lvl5pPr>
              <a:defRPr sz="2025" b="1">
                <a:solidFill>
                  <a:srgbClr val="1F3D36"/>
                </a:solidFill>
              </a:defRPr>
            </a:lvl5pPr>
            <a:lvl6pPr>
              <a:defRPr sz="2025" b="1">
                <a:solidFill>
                  <a:srgbClr val="1F3D36"/>
                </a:solidFill>
              </a:defRPr>
            </a:lvl6pPr>
            <a:lvl7pPr>
              <a:defRPr sz="2025" b="1">
                <a:solidFill>
                  <a:srgbClr val="1F3D36"/>
                </a:solidFill>
              </a:defRPr>
            </a:lvl7pPr>
            <a:lvl8pPr>
              <a:defRPr sz="2025" b="1">
                <a:solidFill>
                  <a:srgbClr val="1F3D36"/>
                </a:solidFill>
              </a:defRPr>
            </a:lvl8pPr>
            <a:lvl9pPr>
              <a:defRPr sz="2025" b="1">
                <a:solidFill>
                  <a:srgbClr val="1F3D3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F3D36"/>
                </a:solidFill>
              </a:defRPr>
            </a:pPr>
            <a:r>
              <a:rPr sz="2025" b="1">
                <a:solidFill>
                  <a:srgbClr val="1F3D36"/>
                </a:solidFill>
              </a:rPr>
              <a:t>Recall sketch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A6020-05C7-4129-AAB9-C4FD3D5A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76400"/>
            <a:ext cx="3276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C1C1E"/>
                </a:solidFill>
              </a:defRPr>
            </a:defPPr>
            <a:lvl1pPr>
              <a:defRPr sz="1875" b="0">
                <a:solidFill>
                  <a:srgbClr val="1C1C1E"/>
                </a:solidFill>
              </a:defRPr>
            </a:lvl1pPr>
            <a:lvl2pPr>
              <a:defRPr sz="1875" b="0">
                <a:solidFill>
                  <a:srgbClr val="1C1C1E"/>
                </a:solidFill>
              </a:defRPr>
            </a:lvl2pPr>
            <a:lvl3pPr>
              <a:defRPr sz="1875" b="0">
                <a:solidFill>
                  <a:srgbClr val="1C1C1E"/>
                </a:solidFill>
              </a:defRPr>
            </a:lvl3pPr>
            <a:lvl4pPr>
              <a:defRPr sz="1875" b="0">
                <a:solidFill>
                  <a:srgbClr val="1C1C1E"/>
                </a:solidFill>
              </a:defRPr>
            </a:lvl4pPr>
            <a:lvl5pPr>
              <a:defRPr sz="1875" b="0">
                <a:solidFill>
                  <a:srgbClr val="1C1C1E"/>
                </a:solidFill>
              </a:defRPr>
            </a:lvl5pPr>
            <a:lvl6pPr>
              <a:defRPr sz="1875" b="0">
                <a:solidFill>
                  <a:srgbClr val="1C1C1E"/>
                </a:solidFill>
              </a:defRPr>
            </a:lvl6pPr>
            <a:lvl7pPr>
              <a:defRPr sz="1875" b="0">
                <a:solidFill>
                  <a:srgbClr val="1C1C1E"/>
                </a:solidFill>
              </a:defRPr>
            </a:lvl7pPr>
            <a:lvl8pPr>
              <a:defRPr sz="1875" b="0">
                <a:solidFill>
                  <a:srgbClr val="1C1C1E"/>
                </a:solidFill>
              </a:defRPr>
            </a:lvl8pPr>
            <a:lvl9pPr>
              <a:defRPr sz="1875" b="0">
                <a:solidFill>
                  <a:srgbClr val="1C1C1E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C1C1E"/>
                </a:solidFill>
              </a:defRPr>
            </a:pPr>
            <a:r>
              <a:rPr sz="1875" b="0">
                <a:solidFill>
                  <a:srgbClr val="1C1C1E"/>
                </a:solidFill>
              </a:rPr>
              <a:t>Compact labels separate the action from its time. Keep the form easy to scan, with labels beside each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10EE4-8D04-46B8-B4BC-879A721A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76625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F3D36"/>
                </a:solidFill>
              </a:defRPr>
            </a:defPPr>
            <a:lvl1pPr>
              <a:defRPr sz="2025" b="1">
                <a:solidFill>
                  <a:srgbClr val="1F3D36"/>
                </a:solidFill>
              </a:defRPr>
            </a:lvl1pPr>
            <a:lvl2pPr>
              <a:defRPr sz="2025" b="1">
                <a:solidFill>
                  <a:srgbClr val="1F3D36"/>
                </a:solidFill>
              </a:defRPr>
            </a:lvl2pPr>
            <a:lvl3pPr>
              <a:defRPr sz="2025" b="1">
                <a:solidFill>
                  <a:srgbClr val="1F3D36"/>
                </a:solidFill>
              </a:defRPr>
            </a:lvl3pPr>
            <a:lvl4pPr>
              <a:defRPr sz="2025" b="1">
                <a:solidFill>
                  <a:srgbClr val="1F3D36"/>
                </a:solidFill>
              </a:defRPr>
            </a:lvl4pPr>
            <a:lvl5pPr>
              <a:defRPr sz="2025" b="1">
                <a:solidFill>
                  <a:srgbClr val="1F3D36"/>
                </a:solidFill>
              </a:defRPr>
            </a:lvl5pPr>
            <a:lvl6pPr>
              <a:defRPr sz="2025" b="1">
                <a:solidFill>
                  <a:srgbClr val="1F3D36"/>
                </a:solidFill>
              </a:defRPr>
            </a:lvl6pPr>
            <a:lvl7pPr>
              <a:defRPr sz="2025" b="1">
                <a:solidFill>
                  <a:srgbClr val="1F3D36"/>
                </a:solidFill>
              </a:defRPr>
            </a:lvl7pPr>
            <a:lvl8pPr>
              <a:defRPr sz="2025" b="1">
                <a:solidFill>
                  <a:srgbClr val="1F3D36"/>
                </a:solidFill>
              </a:defRPr>
            </a:lvl8pPr>
            <a:lvl9pPr>
              <a:defRPr sz="2025" b="1">
                <a:solidFill>
                  <a:srgbClr val="1F3D3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F3D36"/>
                </a:solidFill>
              </a:defRPr>
            </a:pPr>
            <a:r>
              <a:rPr sz="2025" b="1">
                <a:solidFill>
                  <a:srgbClr val="1F3D36"/>
                </a:solidFill>
              </a:rPr>
              <a:t>Applied in the beta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A03FD-372D-428E-8D1A-51A2925F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005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C1C1E"/>
                </a:solidFill>
              </a:defRPr>
            </a:defPPr>
            <a:lvl1pPr>
              <a:defRPr sz="1875" b="0">
                <a:solidFill>
                  <a:srgbClr val="1C1C1E"/>
                </a:solidFill>
              </a:defRPr>
            </a:lvl1pPr>
            <a:lvl2pPr>
              <a:defRPr sz="1875" b="0">
                <a:solidFill>
                  <a:srgbClr val="1C1C1E"/>
                </a:solidFill>
              </a:defRPr>
            </a:lvl2pPr>
            <a:lvl3pPr>
              <a:defRPr sz="1875" b="0">
                <a:solidFill>
                  <a:srgbClr val="1C1C1E"/>
                </a:solidFill>
              </a:defRPr>
            </a:lvl3pPr>
            <a:lvl4pPr>
              <a:defRPr sz="1875" b="0">
                <a:solidFill>
                  <a:srgbClr val="1C1C1E"/>
                </a:solidFill>
              </a:defRPr>
            </a:lvl4pPr>
            <a:lvl5pPr>
              <a:defRPr sz="1875" b="0">
                <a:solidFill>
                  <a:srgbClr val="1C1C1E"/>
                </a:solidFill>
              </a:defRPr>
            </a:lvl5pPr>
            <a:lvl6pPr>
              <a:defRPr sz="1875" b="0">
                <a:solidFill>
                  <a:srgbClr val="1C1C1E"/>
                </a:solidFill>
              </a:defRPr>
            </a:lvl6pPr>
            <a:lvl7pPr>
              <a:defRPr sz="1875" b="0">
                <a:solidFill>
                  <a:srgbClr val="1C1C1E"/>
                </a:solidFill>
              </a:defRPr>
            </a:lvl7pPr>
            <a:lvl8pPr>
              <a:defRPr sz="1875" b="0">
                <a:solidFill>
                  <a:srgbClr val="1C1C1E"/>
                </a:solidFill>
              </a:defRPr>
            </a:lvl8pPr>
            <a:lvl9pPr>
              <a:defRPr sz="1875" b="0">
                <a:solidFill>
                  <a:srgbClr val="1C1C1E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C1C1E"/>
                </a:solidFill>
              </a:defRPr>
            </a:pPr>
            <a:r>
              <a:rPr sz="1875" b="0">
                <a:solidFill>
                  <a:srgbClr val="1C1C1E"/>
                </a:solidFill>
              </a:rPr>
              <a:t>System sans serif; 16px controls; restrained bold headings. Each field has a visible label. Buttons name the action: Review suggestion, Confirm, Mark complete.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857D0-669A-4739-8A42-A3F1C14E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127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5B68"/>
                </a:solidFill>
              </a:defRPr>
            </a:defPPr>
            <a:lvl1pPr>
              <a:defRPr sz="1350" b="0">
                <a:solidFill>
                  <a:srgbClr val="525B68"/>
                </a:solidFill>
              </a:defRPr>
            </a:lvl1pPr>
            <a:lvl2pPr>
              <a:defRPr sz="1350" b="0">
                <a:solidFill>
                  <a:srgbClr val="525B68"/>
                </a:solidFill>
              </a:defRPr>
            </a:lvl2pPr>
            <a:lvl3pPr>
              <a:defRPr sz="1350" b="0">
                <a:solidFill>
                  <a:srgbClr val="525B68"/>
                </a:solidFill>
              </a:defRPr>
            </a:lvl3pPr>
            <a:lvl4pPr>
              <a:defRPr sz="1350" b="0">
                <a:solidFill>
                  <a:srgbClr val="525B68"/>
                </a:solidFill>
              </a:defRPr>
            </a:lvl4pPr>
            <a:lvl5pPr>
              <a:defRPr sz="1350" b="0">
                <a:solidFill>
                  <a:srgbClr val="525B68"/>
                </a:solidFill>
              </a:defRPr>
            </a:lvl5pPr>
            <a:lvl6pPr>
              <a:defRPr sz="1350" b="0">
                <a:solidFill>
                  <a:srgbClr val="525B68"/>
                </a:solidFill>
              </a:defRPr>
            </a:lvl6pPr>
            <a:lvl7pPr>
              <a:defRPr sz="1350" b="0">
                <a:solidFill>
                  <a:srgbClr val="525B68"/>
                </a:solidFill>
              </a:defRPr>
            </a:lvl7pPr>
            <a:lvl8pPr>
              <a:defRPr sz="1350" b="0">
                <a:solidFill>
                  <a:srgbClr val="525B68"/>
                </a:solidFill>
              </a:defRPr>
            </a:lvl8pPr>
            <a:lvl9pPr>
              <a:defRPr sz="1350" b="0">
                <a:solidFill>
                  <a:srgbClr val="525B6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5B68"/>
                </a:solidFill>
              </a:defRPr>
            </a:pPr>
            <a:r>
              <a:rPr sz="1350" b="0">
                <a:solidFill>
                  <a:srgbClr val="525B68"/>
                </a:solidFill>
              </a:rPr>
              <a:t>Reference photograph + interface sketch • Sources and design decisions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5962272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EFFCA-DC2A-49BB-9843-3E4CE538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F3D36"/>
                </a:solidFill>
              </a:defRPr>
            </a:defPPr>
            <a:lvl1pPr>
              <a:defRPr sz="3300" b="1">
                <a:solidFill>
                  <a:srgbClr val="1F3D36"/>
                </a:solidFill>
              </a:defRPr>
            </a:lvl1pPr>
            <a:lvl2pPr>
              <a:defRPr sz="3300" b="1">
                <a:solidFill>
                  <a:srgbClr val="1F3D36"/>
                </a:solidFill>
              </a:defRPr>
            </a:lvl2pPr>
            <a:lvl3pPr>
              <a:defRPr sz="3300" b="1">
                <a:solidFill>
                  <a:srgbClr val="1F3D36"/>
                </a:solidFill>
              </a:defRPr>
            </a:lvl3pPr>
            <a:lvl4pPr>
              <a:defRPr sz="3300" b="1">
                <a:solidFill>
                  <a:srgbClr val="1F3D36"/>
                </a:solidFill>
              </a:defRPr>
            </a:lvl4pPr>
            <a:lvl5pPr>
              <a:defRPr sz="3300" b="1">
                <a:solidFill>
                  <a:srgbClr val="1F3D36"/>
                </a:solidFill>
              </a:defRPr>
            </a:lvl5pPr>
            <a:lvl6pPr>
              <a:defRPr sz="3300" b="1">
                <a:solidFill>
                  <a:srgbClr val="1F3D36"/>
                </a:solidFill>
              </a:defRPr>
            </a:lvl6pPr>
            <a:lvl7pPr>
              <a:defRPr sz="3300" b="1">
                <a:solidFill>
                  <a:srgbClr val="1F3D36"/>
                </a:solidFill>
              </a:defRPr>
            </a:lvl7pPr>
            <a:lvl8pPr>
              <a:defRPr sz="3300" b="1">
                <a:solidFill>
                  <a:srgbClr val="1F3D36"/>
                </a:solidFill>
              </a:defRPr>
            </a:lvl8pPr>
            <a:lvl9pPr>
              <a:defRPr sz="3300" b="1">
                <a:solidFill>
                  <a:srgbClr val="1F3D36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F3D36"/>
                </a:solidFill>
              </a:defRPr>
            </a:pPr>
            <a:r>
              <a:rPr sz="3300" b="1">
                <a:solidFill>
                  <a:srgbClr val="1F3D36"/>
                </a:solidFill>
              </a:rPr>
              <a:t>Color: quiet surfaces, visible decisions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DAA39-E995-4986-AFE1-603A3E7882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103d2e87143f3"/>
          <a:srcRect xmlns:a="http://schemas.openxmlformats.org/drawingml/2006/main" l="0" t="16563" r="0" b="165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162050"/>
            <a:ext cx="4619625" cy="409575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1110F-AC01-488B-A7FB-10867FD53A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39f5440a348cc"/>
          <a:stretch xmlns:a="http://schemas.openxmlformats.org/drawingml/2006/main"/>
        </p:blipFill>
        <p:spPr>
          <a:xfrm xmlns:a="http://schemas.openxmlformats.org/drawingml/2006/main">
            <a:off x="5665694" y="1162050"/>
            <a:ext cx="1927412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FD286-BD42-4FE2-980D-88DD791C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F3D36"/>
                </a:solidFill>
              </a:defRPr>
            </a:defPPr>
            <a:lvl1pPr>
              <a:defRPr sz="2025" b="1">
                <a:solidFill>
                  <a:srgbClr val="1F3D36"/>
                </a:solidFill>
              </a:defRPr>
            </a:lvl1pPr>
            <a:lvl2pPr>
              <a:defRPr sz="2025" b="1">
                <a:solidFill>
                  <a:srgbClr val="1F3D36"/>
                </a:solidFill>
              </a:defRPr>
            </a:lvl2pPr>
            <a:lvl3pPr>
              <a:defRPr sz="2025" b="1">
                <a:solidFill>
                  <a:srgbClr val="1F3D36"/>
                </a:solidFill>
              </a:defRPr>
            </a:lvl3pPr>
            <a:lvl4pPr>
              <a:defRPr sz="2025" b="1">
                <a:solidFill>
                  <a:srgbClr val="1F3D36"/>
                </a:solidFill>
              </a:defRPr>
            </a:lvl4pPr>
            <a:lvl5pPr>
              <a:defRPr sz="2025" b="1">
                <a:solidFill>
                  <a:srgbClr val="1F3D36"/>
                </a:solidFill>
              </a:defRPr>
            </a:lvl5pPr>
            <a:lvl6pPr>
              <a:defRPr sz="2025" b="1">
                <a:solidFill>
                  <a:srgbClr val="1F3D36"/>
                </a:solidFill>
              </a:defRPr>
            </a:lvl6pPr>
            <a:lvl7pPr>
              <a:defRPr sz="2025" b="1">
                <a:solidFill>
                  <a:srgbClr val="1F3D36"/>
                </a:solidFill>
              </a:defRPr>
            </a:lvl7pPr>
            <a:lvl8pPr>
              <a:defRPr sz="2025" b="1">
                <a:solidFill>
                  <a:srgbClr val="1F3D36"/>
                </a:solidFill>
              </a:defRPr>
            </a:lvl8pPr>
            <a:lvl9pPr>
              <a:defRPr sz="2025" b="1">
                <a:solidFill>
                  <a:srgbClr val="1F3D3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F3D36"/>
                </a:solidFill>
              </a:defRPr>
            </a:pPr>
            <a:r>
              <a:rPr sz="2025" b="1">
                <a:solidFill>
                  <a:srgbClr val="1F3D36"/>
                </a:solidFill>
              </a:rPr>
              <a:t>Printed pattern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8E83E-658E-4EFE-BF76-5CE963DE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48350"/>
            <a:ext cx="4619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C1C1E"/>
                </a:solidFill>
              </a:defRPr>
            </a:defPPr>
            <a:lvl1pPr>
              <a:defRPr sz="1650" b="0">
                <a:solidFill>
                  <a:srgbClr val="1C1C1E"/>
                </a:solidFill>
              </a:defRPr>
            </a:lvl1pPr>
            <a:lvl2pPr>
              <a:defRPr sz="1650" b="0">
                <a:solidFill>
                  <a:srgbClr val="1C1C1E"/>
                </a:solidFill>
              </a:defRPr>
            </a:lvl2pPr>
            <a:lvl3pPr>
              <a:defRPr sz="1650" b="0">
                <a:solidFill>
                  <a:srgbClr val="1C1C1E"/>
                </a:solidFill>
              </a:defRPr>
            </a:lvl3pPr>
            <a:lvl4pPr>
              <a:defRPr sz="1650" b="0">
                <a:solidFill>
                  <a:srgbClr val="1C1C1E"/>
                </a:solidFill>
              </a:defRPr>
            </a:lvl4pPr>
            <a:lvl5pPr>
              <a:defRPr sz="1650" b="0">
                <a:solidFill>
                  <a:srgbClr val="1C1C1E"/>
                </a:solidFill>
              </a:defRPr>
            </a:lvl5pPr>
            <a:lvl6pPr>
              <a:defRPr sz="1650" b="0">
                <a:solidFill>
                  <a:srgbClr val="1C1C1E"/>
                </a:solidFill>
              </a:defRPr>
            </a:lvl6pPr>
            <a:lvl7pPr>
              <a:defRPr sz="1650" b="0">
                <a:solidFill>
                  <a:srgbClr val="1C1C1E"/>
                </a:solidFill>
              </a:defRPr>
            </a:lvl7pPr>
            <a:lvl8pPr>
              <a:defRPr sz="1650" b="0">
                <a:solidFill>
                  <a:srgbClr val="1C1C1E"/>
                </a:solidFill>
              </a:defRPr>
            </a:lvl8pPr>
            <a:lvl9pPr>
              <a:defRPr sz="1650" b="0">
                <a:solidFill>
                  <a:srgbClr val="1C1C1E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C1C1E"/>
                </a:solidFill>
              </a:defRPr>
            </a:pPr>
            <a:r>
              <a:rPr sz="1650" b="0">
                <a:solidFill>
                  <a:srgbClr val="1C1C1E"/>
                </a:solidFill>
              </a:rPr>
              <a:t>Borrow the muted green and pale ground. Keep the pattern out of the working interface.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BEBC9-E349-4A7A-9BED-48C4B88E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620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F3D36"/>
                </a:solidFill>
              </a:defRPr>
            </a:defPPr>
            <a:lvl1pPr>
              <a:defRPr sz="2025" b="1">
                <a:solidFill>
                  <a:srgbClr val="1F3D36"/>
                </a:solidFill>
              </a:defRPr>
            </a:lvl1pPr>
            <a:lvl2pPr>
              <a:defRPr sz="2025" b="1">
                <a:solidFill>
                  <a:srgbClr val="1F3D36"/>
                </a:solidFill>
              </a:defRPr>
            </a:lvl2pPr>
            <a:lvl3pPr>
              <a:defRPr sz="2025" b="1">
                <a:solidFill>
                  <a:srgbClr val="1F3D36"/>
                </a:solidFill>
              </a:defRPr>
            </a:lvl3pPr>
            <a:lvl4pPr>
              <a:defRPr sz="2025" b="1">
                <a:solidFill>
                  <a:srgbClr val="1F3D36"/>
                </a:solidFill>
              </a:defRPr>
            </a:lvl4pPr>
            <a:lvl5pPr>
              <a:defRPr sz="2025" b="1">
                <a:solidFill>
                  <a:srgbClr val="1F3D36"/>
                </a:solidFill>
              </a:defRPr>
            </a:lvl5pPr>
            <a:lvl6pPr>
              <a:defRPr sz="2025" b="1">
                <a:solidFill>
                  <a:srgbClr val="1F3D36"/>
                </a:solidFill>
              </a:defRPr>
            </a:lvl6pPr>
            <a:lvl7pPr>
              <a:defRPr sz="2025" b="1">
                <a:solidFill>
                  <a:srgbClr val="1F3D36"/>
                </a:solidFill>
              </a:defRPr>
            </a:lvl7pPr>
            <a:lvl8pPr>
              <a:defRPr sz="2025" b="1">
                <a:solidFill>
                  <a:srgbClr val="1F3D36"/>
                </a:solidFill>
              </a:defRPr>
            </a:lvl8pPr>
            <a:lvl9pPr>
              <a:defRPr sz="2025" b="1">
                <a:solidFill>
                  <a:srgbClr val="1F3D3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F3D36"/>
                </a:solidFill>
              </a:defRPr>
            </a:pPr>
            <a:r>
              <a:rPr sz="2025" b="1">
                <a:solidFill>
                  <a:srgbClr val="1F3D36"/>
                </a:solidFill>
              </a:rPr>
              <a:t>Applied palette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075A5-5DBF-43EC-86A4-D9E1659F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42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C1C1E"/>
                </a:solidFill>
              </a:defRPr>
            </a:defPPr>
            <a:lvl1pPr>
              <a:defRPr sz="1875" b="0">
                <a:solidFill>
                  <a:srgbClr val="1C1C1E"/>
                </a:solidFill>
              </a:defRPr>
            </a:lvl1pPr>
            <a:lvl2pPr>
              <a:defRPr sz="1875" b="0">
                <a:solidFill>
                  <a:srgbClr val="1C1C1E"/>
                </a:solidFill>
              </a:defRPr>
            </a:lvl2pPr>
            <a:lvl3pPr>
              <a:defRPr sz="1875" b="0">
                <a:solidFill>
                  <a:srgbClr val="1C1C1E"/>
                </a:solidFill>
              </a:defRPr>
            </a:lvl3pPr>
            <a:lvl4pPr>
              <a:defRPr sz="1875" b="0">
                <a:solidFill>
                  <a:srgbClr val="1C1C1E"/>
                </a:solidFill>
              </a:defRPr>
            </a:lvl4pPr>
            <a:lvl5pPr>
              <a:defRPr sz="1875" b="0">
                <a:solidFill>
                  <a:srgbClr val="1C1C1E"/>
                </a:solidFill>
              </a:defRPr>
            </a:lvl5pPr>
            <a:lvl6pPr>
              <a:defRPr sz="1875" b="0">
                <a:solidFill>
                  <a:srgbClr val="1C1C1E"/>
                </a:solidFill>
              </a:defRPr>
            </a:lvl6pPr>
            <a:lvl7pPr>
              <a:defRPr sz="1875" b="0">
                <a:solidFill>
                  <a:srgbClr val="1C1C1E"/>
                </a:solidFill>
              </a:defRPr>
            </a:lvl7pPr>
            <a:lvl8pPr>
              <a:defRPr sz="1875" b="0">
                <a:solidFill>
                  <a:srgbClr val="1C1C1E"/>
                </a:solidFill>
              </a:defRPr>
            </a:lvl8pPr>
            <a:lvl9pPr>
              <a:defRPr sz="1875" b="0">
                <a:solidFill>
                  <a:srgbClr val="1C1C1E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C1C1E"/>
                </a:solidFill>
              </a:defRPr>
            </a:pPr>
            <a:r>
              <a:rPr sz="1875" b="0">
                <a:solidFill>
                  <a:srgbClr val="1C1C1E"/>
                </a:solidFill>
              </a:rPr>
              <a:t>#1F3D36  Primary action</a:t>
            </a:r>
          </a:p>
          <a:p xmlns:a="http://schemas.openxmlformats.org/drawingml/2006/main">
            <a:pPr>
              <a:defRPr sz="1875" b="0">
                <a:solidFill>
                  <a:srgbClr val="1C1C1E"/>
                </a:solidFill>
              </a:defRPr>
            </a:pPr>
            <a:r>
              <a:rPr sz="1875" b="0">
                <a:solidFill>
                  <a:srgbClr val="1C1C1E"/>
                </a:solidFill>
              </a:rPr>
              <a:t>#F5F6F8  Page background</a:t>
            </a:r>
          </a:p>
          <a:p xmlns:a="http://schemas.openxmlformats.org/drawingml/2006/main">
            <a:pPr>
              <a:defRPr sz="1875" b="0">
                <a:solidFill>
                  <a:srgbClr val="1C1C1E"/>
                </a:solidFill>
              </a:defRPr>
            </a:pPr>
            <a:r>
              <a:rPr sz="1875" b="0">
                <a:solidFill>
                  <a:srgbClr val="1C1C1E"/>
                </a:solidFill>
              </a:rPr>
              <a:t>#FFFFFF  Reading surface</a:t>
            </a:r>
          </a:p>
          <a:p xmlns:a="http://schemas.openxmlformats.org/drawingml/2006/main">
            <a:pPr>
              <a:defRPr sz="1875" b="0">
                <a:solidFill>
                  <a:srgbClr val="1C1C1E"/>
                </a:solidFill>
              </a:defRPr>
            </a:pPr>
            <a:r>
              <a:rPr sz="1875" b="0">
                <a:solidFill>
                  <a:srgbClr val="1C1C1E"/>
                </a:solidFill>
              </a:rPr>
              <a:t>#525B68  Supporting text</a:t>
            </a:r>
          </a:p>
          <a:p xmlns:a="http://schemas.openxmlformats.org/drawingml/2006/main">
            <a:pPr>
              <a:defRPr sz="1875" b="0">
                <a:solidFill>
                  <a:srgbClr val="1C1C1E"/>
                </a:solidFill>
              </a:defRPr>
            </a:pPr>
            <a:r>
              <a:rPr sz="1875" b="0">
                <a:solidFill>
                  <a:srgbClr val="1C1C1E"/>
                </a:solidFill>
              </a:rPr>
              <a:t>#B91C1C  Error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D7C36-2668-44A3-B0EC-E045847B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F3D36"/>
                </a:solidFill>
              </a:defRPr>
            </a:defPPr>
            <a:lvl1pPr>
              <a:defRPr sz="2025" b="1">
                <a:solidFill>
                  <a:srgbClr val="1F3D36"/>
                </a:solidFill>
              </a:defRPr>
            </a:lvl1pPr>
            <a:lvl2pPr>
              <a:defRPr sz="2025" b="1">
                <a:solidFill>
                  <a:srgbClr val="1F3D36"/>
                </a:solidFill>
              </a:defRPr>
            </a:lvl2pPr>
            <a:lvl3pPr>
              <a:defRPr sz="2025" b="1">
                <a:solidFill>
                  <a:srgbClr val="1F3D36"/>
                </a:solidFill>
              </a:defRPr>
            </a:lvl3pPr>
            <a:lvl4pPr>
              <a:defRPr sz="2025" b="1">
                <a:solidFill>
                  <a:srgbClr val="1F3D36"/>
                </a:solidFill>
              </a:defRPr>
            </a:lvl4pPr>
            <a:lvl5pPr>
              <a:defRPr sz="2025" b="1">
                <a:solidFill>
                  <a:srgbClr val="1F3D36"/>
                </a:solidFill>
              </a:defRPr>
            </a:lvl5pPr>
            <a:lvl6pPr>
              <a:defRPr sz="2025" b="1">
                <a:solidFill>
                  <a:srgbClr val="1F3D36"/>
                </a:solidFill>
              </a:defRPr>
            </a:lvl6pPr>
            <a:lvl7pPr>
              <a:defRPr sz="2025" b="1">
                <a:solidFill>
                  <a:srgbClr val="1F3D36"/>
                </a:solidFill>
              </a:defRPr>
            </a:lvl7pPr>
            <a:lvl8pPr>
              <a:defRPr sz="2025" b="1">
                <a:solidFill>
                  <a:srgbClr val="1F3D36"/>
                </a:solidFill>
              </a:defRPr>
            </a:lvl8pPr>
            <a:lvl9pPr>
              <a:defRPr sz="2025" b="1">
                <a:solidFill>
                  <a:srgbClr val="1F3D3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F3D36"/>
                </a:solidFill>
              </a:defRPr>
            </a:pPr>
            <a:r>
              <a:rPr sz="2025" b="1">
                <a:solidFill>
                  <a:srgbClr val="1F3D36"/>
                </a:solidFill>
              </a:rPr>
              <a:t>Meaning beyond color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48BBD-B445-4548-AF2E-9E8F8827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57700"/>
            <a:ext cx="342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C1C1E"/>
                </a:solidFill>
              </a:defRPr>
            </a:defPPr>
            <a:lvl1pPr>
              <a:defRPr sz="1875" b="0">
                <a:solidFill>
                  <a:srgbClr val="1C1C1E"/>
                </a:solidFill>
              </a:defRPr>
            </a:lvl1pPr>
            <a:lvl2pPr>
              <a:defRPr sz="1875" b="0">
                <a:solidFill>
                  <a:srgbClr val="1C1C1E"/>
                </a:solidFill>
              </a:defRPr>
            </a:lvl2pPr>
            <a:lvl3pPr>
              <a:defRPr sz="1875" b="0">
                <a:solidFill>
                  <a:srgbClr val="1C1C1E"/>
                </a:solidFill>
              </a:defRPr>
            </a:lvl3pPr>
            <a:lvl4pPr>
              <a:defRPr sz="1875" b="0">
                <a:solidFill>
                  <a:srgbClr val="1C1C1E"/>
                </a:solidFill>
              </a:defRPr>
            </a:lvl4pPr>
            <a:lvl5pPr>
              <a:defRPr sz="1875" b="0">
                <a:solidFill>
                  <a:srgbClr val="1C1C1E"/>
                </a:solidFill>
              </a:defRPr>
            </a:lvl5pPr>
            <a:lvl6pPr>
              <a:defRPr sz="1875" b="0">
                <a:solidFill>
                  <a:srgbClr val="1C1C1E"/>
                </a:solidFill>
              </a:defRPr>
            </a:lvl6pPr>
            <a:lvl7pPr>
              <a:defRPr sz="1875" b="0">
                <a:solidFill>
                  <a:srgbClr val="1C1C1E"/>
                </a:solidFill>
              </a:defRPr>
            </a:lvl7pPr>
            <a:lvl8pPr>
              <a:defRPr sz="1875" b="0">
                <a:solidFill>
                  <a:srgbClr val="1C1C1E"/>
                </a:solidFill>
              </a:defRPr>
            </a:lvl8pPr>
            <a:lvl9pPr>
              <a:defRPr sz="1875" b="0">
                <a:solidFill>
                  <a:srgbClr val="1C1C1E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C1C1E"/>
                </a:solidFill>
              </a:defRPr>
            </a:pPr>
            <a:r>
              <a:rPr sz="1875" b="0">
                <a:solidFill>
                  <a:srgbClr val="1C1C1E"/>
                </a:solidFill>
              </a:rPr>
              <a:t>Suggested and Due badges include text. Errors announce themselves. A distinct focus outline identifies the current keyboard target.</a:t>
            </a:r>
          </a:p>
        </p:txBody>
      </p:sp>
    </p:spTree>
    <p:extLst>
      <p:ext uri="{BB962C8B-B14F-4D97-AF65-F5344CB8AC3E}">
        <p14:creationId xmlns:p14="http://schemas.microsoft.com/office/powerpoint/2010/main" val="810319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2026-10-18T17:58:55.9140000Z</dcterms:created>
  <dcterms:modified xsi:type="dcterms:W3CDTF">2026-10-18T17:58:55.9140000Z</dcterms:modified>
</coreProperties>
</file>